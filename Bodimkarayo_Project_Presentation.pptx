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4"/>
  </p:normalViewPr>
  <p:slideViewPr>
    <p:cSldViewPr snapToGrid="0" snapToObjects="1">
      <p:cViewPr varScale="1">
        <p:scale>
          <a:sx n="91" d="100"/>
          <a:sy n="91" d="100"/>
        </p:scale>
        <p:origin x="192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457200"/>
            <a:ext cx="2468880" cy="2468880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1078992"/>
            <a:ext cx="1143000" cy="1143000"/>
          </a:xfrm>
          <a:prstGeom prst="ellipse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89820" y="4608576"/>
            <a:ext cx="868680" cy="868680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30352"/>
            <a:ext cx="68580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BEAA"/>
                </a:solidFill>
                <a:latin typeface="Aptos"/>
              </a:rPr>
              <a:t>BODIMKARAYO.LK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024128"/>
            <a:ext cx="7498079" cy="109260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3400" b="1" i="0" dirty="0">
                <a:solidFill>
                  <a:srgbClr val="FFFFFF"/>
                </a:solidFill>
                <a:latin typeface="Aptos Display"/>
              </a:rPr>
              <a:t>BODIMKARAYO.LK - </a:t>
            </a:r>
            <a:r>
              <a:rPr sz="3400" b="1" i="0" dirty="0">
                <a:solidFill>
                  <a:srgbClr val="FFFFFF"/>
                </a:solidFill>
                <a:latin typeface="Aptos Display"/>
              </a:rPr>
              <a:t>Smart Roommate
&amp; Property Finder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694944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3E1EF"/>
                </a:solidFill>
                <a:latin typeface="Aptos"/>
              </a:rPr>
              <a:t>A smarter way to find properties and compatible roommates in Sri Lanka.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6217920" cy="41148"/>
          </a:xfrm>
          <a:prstGeom prst="rect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48463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35C"/>
                </a:solidFill>
                <a:latin typeface="Aptos"/>
              </a:rPr>
              <a:t>EC5406  •  SOFTWARE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2"/>
            <a:ext cx="5943600" cy="5943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Department of Computer Engineering
Faculty of Engineering • University of Ruhuna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828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BEAA"/>
                </a:solidFill>
                <a:latin typeface="Aptos"/>
              </a:rPr>
              <a:t>PROJECT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19472"/>
            <a:ext cx="62179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9F3"/>
                </a:solidFill>
                <a:latin typeface="Aptos"/>
              </a:rPr>
              <a:t>Bodhinayake B.D.S.S.  |  EG/2022/4967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62179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9F3"/>
                </a:solidFill>
                <a:latin typeface="Aptos"/>
              </a:rPr>
              <a:t>Dambewela D.M.T.D.B.  |  EG/2022/4979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13248"/>
            <a:ext cx="62179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9F3"/>
                </a:solidFill>
                <a:latin typeface="Aptos"/>
              </a:rPr>
              <a:t>Hangawaththa N.H.A.G.M.  |  EG/2022/5057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0136"/>
            <a:ext cx="62179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9F3"/>
                </a:solidFill>
                <a:latin typeface="Aptos"/>
              </a:rPr>
              <a:t>Weerasekara W.B.M.D.S.  |  EG/2022/5393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925312"/>
            <a:ext cx="3383280" cy="26161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Aptos"/>
              </a:rPr>
              <a:t>Client: </a:t>
            </a:r>
            <a:r>
              <a:rPr lang="en-US" sz="1400" b="1" i="0" dirty="0">
                <a:solidFill>
                  <a:srgbClr val="FFFFFF"/>
                </a:solidFill>
                <a:latin typeface="Aptos"/>
              </a:rPr>
              <a:t>Mr. </a:t>
            </a:r>
            <a:r>
              <a:rPr sz="1400" b="1" i="0" dirty="0">
                <a:solidFill>
                  <a:srgbClr val="FFFFFF"/>
                </a:solidFill>
                <a:latin typeface="Aptos"/>
              </a:rPr>
              <a:t>Saranga Bandara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7C8DA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8DA"/>
                </a:solidFill>
                <a:latin typeface="Aptos"/>
              </a:rPr>
              <a:t>01 / 06</a:t>
            </a:r>
          </a:p>
        </p:txBody>
      </p:sp>
      <p:pic>
        <p:nvPicPr>
          <p:cNvPr id="25" name="Picture 24" descr="A logo for a housing company&#10;&#10;AI-generated content may be incorrect.">
            <a:extLst>
              <a:ext uri="{FF2B5EF4-FFF2-40B4-BE49-F238E27FC236}">
                <a16:creationId xmlns:a16="http://schemas.microsoft.com/office/drawing/2014/main" id="{612C18A8-3172-59D4-35B0-1B9885C3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1" t="18387" r="4325" b="18762"/>
          <a:stretch>
            <a:fillRect/>
          </a:stretch>
        </p:blipFill>
        <p:spPr>
          <a:xfrm>
            <a:off x="8104632" y="2396596"/>
            <a:ext cx="3553968" cy="21343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01 •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3035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F38"/>
                </a:solidFill>
                <a:latin typeface="Aptos Display"/>
              </a:rPr>
              <a:t>One platform. Better accommodation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32918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5778C"/>
                </a:solidFill>
                <a:latin typeface="Aptos"/>
              </a:rPr>
              <a:t>Designed for Sri Lanka’s property and boarding-house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2461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246120" cy="91440"/>
          </a:xfrm>
          <a:prstGeom prst="rect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57984"/>
            <a:ext cx="27889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F38"/>
                </a:solidFill>
                <a:latin typeface="Aptos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51760"/>
            <a:ext cx="2788920" cy="2468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A web and mobile platform for rental properties, rooms, and shared accommodation.</a:t>
            </a:r>
          </a:p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Focused on Sri Lankan “Bodima”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74519"/>
            <a:ext cx="32461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874519"/>
            <a:ext cx="3246120" cy="91440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2157984"/>
            <a:ext cx="27889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F38"/>
                </a:solidFill>
                <a:latin typeface="Apto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651760"/>
            <a:ext cx="2788920" cy="2468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Listings are scattered across multiple channels.</a:t>
            </a:r>
          </a:p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Finding a place within budget and location takes time.</a:t>
            </a:r>
          </a:p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Finding a compatible, trustworthy roommate is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74519"/>
            <a:ext cx="32461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1874519"/>
            <a:ext cx="3246120" cy="91440"/>
          </a:xfrm>
          <a:prstGeom prst="rect">
            <a:avLst/>
          </a:prstGeom>
          <a:solidFill>
            <a:srgbClr val="5390EB"/>
          </a:solidFill>
          <a:ln>
            <a:solidFill>
              <a:srgbClr val="539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82128" y="2157984"/>
            <a:ext cx="27889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F38"/>
                </a:solidFill>
                <a:latin typeface="Aptos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651760"/>
            <a:ext cx="2788920" cy="2468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Centralized property and roommate discovery.</a:t>
            </a:r>
          </a:p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AI-powered personalized recommendations.</a:t>
            </a:r>
          </a:p>
          <a:p>
            <a:pPr>
              <a:spcAft>
                <a:spcPts val="1200"/>
              </a:spcAft>
              <a:defRPr sz="1400">
                <a:solidFill>
                  <a:srgbClr val="1E2C3D"/>
                </a:solidFill>
                <a:latin typeface="Aptos"/>
              </a:defRPr>
            </a:pPr>
            <a:r>
              <a:t>•  Map search, profiles, reviews, and reporting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89920" cy="26161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0F1F38"/>
                </a:solidFill>
                <a:latin typeface="Aptos"/>
              </a:rPr>
              <a:t>GOAL  •  Make finding a place</a:t>
            </a:r>
            <a:r>
              <a:rPr lang="en-US" sz="1400" b="1" i="0" dirty="0">
                <a:solidFill>
                  <a:srgbClr val="0F1F38"/>
                </a:solidFill>
                <a:latin typeface="Aptos"/>
              </a:rPr>
              <a:t> </a:t>
            </a:r>
            <a:r>
              <a:rPr sz="1400" b="1" i="0" dirty="0">
                <a:solidFill>
                  <a:srgbClr val="0F1F38"/>
                </a:solidFill>
                <a:latin typeface="Aptos"/>
              </a:rPr>
              <a:t>and the right person to share it with</a:t>
            </a:r>
            <a:r>
              <a:rPr lang="en-US" sz="1400" b="1" i="0" dirty="0">
                <a:solidFill>
                  <a:srgbClr val="0F1F38"/>
                </a:solidFill>
                <a:latin typeface="Aptos"/>
              </a:rPr>
              <a:t> </a:t>
            </a:r>
            <a:r>
              <a:rPr sz="1400" b="1" i="0" dirty="0">
                <a:solidFill>
                  <a:srgbClr val="0F1F38"/>
                </a:solidFill>
                <a:latin typeface="Aptos"/>
              </a:rPr>
              <a:t>simpler and safer.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5778C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78C"/>
                </a:solidFill>
                <a:latin typeface="Apto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02 • WHAT MAKES IT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3035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F38"/>
                </a:solidFill>
                <a:latin typeface="Aptos Display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32918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5778C"/>
                </a:solidFill>
                <a:latin typeface="Aptos"/>
              </a:rPr>
              <a:t>Purpose-built for property discovery and roommate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947672"/>
            <a:ext cx="438912" cy="438912"/>
          </a:xfrm>
          <a:prstGeom prst="ellipse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66543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9842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Property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963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Create, manage, and explore rental homes, rooms, and Bodima listings.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830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43400" y="1947672"/>
            <a:ext cx="438912" cy="438912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066543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9842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Roommate 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4963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Discover potential roommates using lifestyle and preference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18119" y="1947672"/>
            <a:ext cx="438912" cy="438912"/>
          </a:xfrm>
          <a:prstGeom prst="ellipse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19" y="2066543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842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AI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4963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Get personalized suggestions based on budget, location, and facilities.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4005072"/>
            <a:ext cx="438912" cy="438912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123944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40416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Map-based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Explore properties by location with interactive maps.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8404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43400" y="4005072"/>
            <a:ext cx="438912" cy="438912"/>
          </a:xfrm>
          <a:prstGeom prst="ellipse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4123944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40416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Alerts &amp;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5537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Stay informed about vacancies and contact owners or potential roommates.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8404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818119" y="4005072"/>
            <a:ext cx="438912" cy="438912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18119" y="4123944"/>
            <a:ext cx="438912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4041648"/>
            <a:ext cx="2148840" cy="3108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F38"/>
                </a:solidFill>
                <a:latin typeface="Aptos"/>
              </a:rPr>
              <a:t>Trust &amp;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553712"/>
            <a:ext cx="2724912" cy="7498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2C3D"/>
                </a:solidFill>
                <a:latin typeface="Aptos"/>
              </a:rPr>
              <a:t>Profiles, reviews, ratings, reports, and admin-managed dispute handling.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5778C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78C"/>
                </a:solidFill>
                <a:latin typeface="Apto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4008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03 • HOW WE PLAN TO BUILD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3035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Proposed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32918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2D3E5"/>
                </a:solidFill>
                <a:latin typeface="Aptos"/>
              </a:rPr>
              <a:t>A modern stack for web, mobile, search, recommendations, and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82296" cy="1572768"/>
          </a:xfrm>
          <a:prstGeom prst="rect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WEB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2724912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React.js
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74519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874519"/>
            <a:ext cx="82296" cy="1572768"/>
          </a:xfrm>
          <a:prstGeom prst="rect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C35C"/>
                </a:solidFill>
                <a:latin typeface="Aptos"/>
              </a:rPr>
              <a:t>BACKEND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41448"/>
            <a:ext cx="2724912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Java • Spring Boot
MariaDB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874519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874519"/>
            <a:ext cx="82296" cy="1572768"/>
          </a:xfrm>
          <a:prstGeom prst="rect">
            <a:avLst/>
          </a:prstGeom>
          <a:solidFill>
            <a:srgbClr val="70A7FF"/>
          </a:solidFill>
          <a:ln>
            <a:solidFill>
              <a:srgbClr val="70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0A7FF"/>
                </a:solidFill>
                <a:latin typeface="Aptos"/>
              </a:rPr>
              <a:t>AI &amp;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41448"/>
            <a:ext cx="2615184" cy="73866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AI recommendation engine (Gemini AI API)</a:t>
            </a:r>
            <a:r>
              <a:rPr sz="1500" b="1" i="0" dirty="0">
                <a:solidFill>
                  <a:srgbClr val="FFFFFF"/>
                </a:solidFill>
                <a:latin typeface="Aptos"/>
              </a:rPr>
              <a:t>
Elasticsearch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82296" cy="1572768"/>
          </a:xfrm>
          <a:prstGeom prst="rect">
            <a:avLst/>
          </a:prstGeom>
          <a:solidFill>
            <a:srgbClr val="70D5AD"/>
          </a:solidFill>
          <a:ln>
            <a:solidFill>
              <a:srgbClr val="70D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0D5AD"/>
                </a:solidFill>
                <a:latin typeface="Aptos"/>
              </a:rPr>
              <a:t>MOBILE &amp; 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53128"/>
            <a:ext cx="2724912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Flutter
Leaflet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88620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0520" y="3886200"/>
            <a:ext cx="82296" cy="1572768"/>
          </a:xfrm>
          <a:prstGeom prst="rect">
            <a:avLst/>
          </a:prstGeom>
          <a:solidFill>
            <a:srgbClr val="FF9370"/>
          </a:solidFill>
          <a:ln>
            <a:solidFill>
              <a:srgbClr val="FF9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9370"/>
                </a:solidFill>
                <a:latin typeface="Aptos"/>
              </a:rPr>
              <a:t>MEDIA &amp;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53128"/>
            <a:ext cx="2724912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Cloudinary
AWS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88620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172F4E"/>
          </a:solidFill>
          <a:ln>
            <a:solidFill>
              <a:srgbClr val="31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35240" y="3886200"/>
            <a:ext cx="82296" cy="1572768"/>
          </a:xfrm>
          <a:prstGeom prst="rect">
            <a:avLst/>
          </a:prstGeom>
          <a:solidFill>
            <a:srgbClr val="C29AFF"/>
          </a:solidFill>
          <a:ln>
            <a:solidFill>
              <a:srgbClr val="C2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26974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00" b="1" i="0" dirty="0">
                <a:solidFill>
                  <a:srgbClr val="C29AFF"/>
                </a:solidFill>
                <a:latin typeface="Aptos"/>
              </a:rPr>
              <a:t>ENGINEERING</a:t>
            </a:r>
            <a:endParaRPr sz="1000" b="1" i="0" dirty="0">
              <a:solidFill>
                <a:srgbClr val="C29A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453128"/>
            <a:ext cx="2724912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GitHub
Testing • CI/CD • SonarQube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7C8DA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8DA"/>
                </a:solidFill>
                <a:latin typeface="Apto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04 • HOW THE SYSTEM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3035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F38"/>
                </a:solidFill>
                <a:latin typeface="Aptos Display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32918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5778C"/>
                </a:solidFill>
                <a:latin typeface="Aptos"/>
              </a:rPr>
              <a:t>A layered view of the web and mobile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737360"/>
            <a:ext cx="10241280" cy="749808"/>
          </a:xfrm>
          <a:prstGeom prst="roundRect">
            <a:avLst>
              <a:gd name="adj" fmla="val 12000"/>
            </a:avLst>
          </a:prstGeom>
          <a:solidFill>
            <a:srgbClr val="0F1F38"/>
          </a:solidFill>
          <a:ln>
            <a:solidFill>
              <a:srgbClr val="0F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65376"/>
            <a:ext cx="1828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883664"/>
            <a:ext cx="2286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React.js 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83664"/>
            <a:ext cx="2286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Flutter Mobile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487168"/>
            <a:ext cx="0" cy="274320"/>
          </a:xfrm>
          <a:prstGeom prst="line">
            <a:avLst/>
          </a:prstGeom>
          <a:ln w="25400">
            <a:solidFill>
              <a:srgbClr val="1F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63640" y="2523744"/>
            <a:ext cx="18288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778C"/>
                </a:solidFill>
                <a:latin typeface="Aptos"/>
              </a:rPr>
              <a:t>HTTPS /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779776"/>
            <a:ext cx="1024128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907792"/>
            <a:ext cx="155448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BACKEND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327355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328416"/>
            <a:ext cx="1527048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1F38"/>
                </a:solidFill>
                <a:latin typeface="Aptos"/>
              </a:rPr>
              <a:t>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273552"/>
            <a:ext cx="2331720" cy="29260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3328416"/>
            <a:ext cx="2258568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1F38"/>
                </a:solidFill>
                <a:latin typeface="Aptos"/>
              </a:rPr>
              <a:t>Property &amp; Roommate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273552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22976" y="3328416"/>
            <a:ext cx="2212848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1F38"/>
                </a:solidFill>
                <a:latin typeface="Aptos"/>
              </a:rPr>
              <a:t>Search &amp;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273552"/>
            <a:ext cx="1737360" cy="292608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3328416"/>
            <a:ext cx="1664207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1F38"/>
                </a:solidFill>
                <a:latin typeface="Aptos"/>
              </a:rPr>
              <a:t>Admin Services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712463"/>
            <a:ext cx="0" cy="265176"/>
          </a:xfrm>
          <a:prstGeom prst="line">
            <a:avLst/>
          </a:prstGeom>
          <a:ln w="25400">
            <a:solidFill>
              <a:srgbClr val="1F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63640" y="3749039"/>
            <a:ext cx="246888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778C"/>
                </a:solidFill>
                <a:latin typeface="Aptos"/>
              </a:rPr>
              <a:t>DATA / SERVICE CONNECTIONS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005072"/>
            <a:ext cx="102412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133087"/>
            <a:ext cx="219456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BEAA"/>
                </a:solidFill>
                <a:latin typeface="Aptos"/>
              </a:rPr>
              <a:t>DATA &amp; INTEGRATION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4462272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D2FAF1"/>
          </a:solidFill>
          <a:ln>
            <a:solidFill>
              <a:srgbClr val="B8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4489704"/>
            <a:ext cx="1828800" cy="36576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1F38"/>
                </a:solidFill>
                <a:latin typeface="Aptos"/>
              </a:rPr>
              <a:t>MariaDB
Core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4462272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D2FAF1"/>
          </a:solidFill>
          <a:ln>
            <a:solidFill>
              <a:srgbClr val="B8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4489704"/>
            <a:ext cx="1828800" cy="36576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1F38"/>
                </a:solidFill>
                <a:latin typeface="Aptos"/>
              </a:rPr>
              <a:t>Elasticsearch
Property 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462272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D2FAF1"/>
          </a:solidFill>
          <a:ln>
            <a:solidFill>
              <a:srgbClr val="B8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0" y="4489704"/>
            <a:ext cx="1828800" cy="36576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1" dirty="0">
                <a:solidFill>
                  <a:srgbClr val="0F1F38"/>
                </a:solidFill>
                <a:latin typeface="Aptos"/>
              </a:rPr>
              <a:t>AI</a:t>
            </a:r>
            <a:r>
              <a:rPr sz="1000" b="1" i="0" dirty="0">
                <a:solidFill>
                  <a:srgbClr val="0F1F38"/>
                </a:solidFill>
                <a:latin typeface="Aptos"/>
              </a:rPr>
              <a:t> Rec</a:t>
            </a:r>
            <a:r>
              <a:rPr lang="en-US" sz="1000" b="1" i="0" dirty="0">
                <a:solidFill>
                  <a:srgbClr val="0F1F38"/>
                </a:solidFill>
                <a:latin typeface="Aptos"/>
              </a:rPr>
              <a:t>ommendation</a:t>
            </a:r>
            <a:r>
              <a:rPr sz="1000" b="1" i="0" dirty="0">
                <a:solidFill>
                  <a:srgbClr val="0F1F38"/>
                </a:solidFill>
                <a:latin typeface="Aptos"/>
              </a:rPr>
              <a:t>
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4462272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D2FAF1"/>
          </a:solidFill>
          <a:ln>
            <a:solidFill>
              <a:srgbClr val="B8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489704"/>
            <a:ext cx="1828800" cy="36576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1F38"/>
                </a:solidFill>
                <a:latin typeface="Aptos"/>
              </a:rPr>
              <a:t>Cloudinary
Property media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5257800"/>
            <a:ext cx="10241280" cy="621792"/>
          </a:xfrm>
          <a:prstGeom prst="roundRect">
            <a:avLst>
              <a:gd name="adj" fmla="val 12000"/>
            </a:avLst>
          </a:prstGeom>
          <a:solidFill>
            <a:srgbClr val="E2ECF5"/>
          </a:solidFill>
          <a:ln>
            <a:solidFill>
              <a:srgbClr val="CE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70432" y="5468112"/>
            <a:ext cx="178308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F1F38"/>
                </a:solidFill>
                <a:latin typeface="Aptos"/>
              </a:rPr>
              <a:t>EXTERNAL /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449824"/>
            <a:ext cx="146304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F38"/>
                </a:solidFill>
                <a:latin typeface="Aptos"/>
              </a:rPr>
              <a:t>Leaflet Maps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449824"/>
            <a:ext cx="1828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F38"/>
                </a:solidFill>
                <a:latin typeface="Aptos"/>
              </a:rPr>
              <a:t>AWS Cloud Hosting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449824"/>
            <a:ext cx="21031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F38"/>
                </a:solidFill>
                <a:latin typeface="Aptos"/>
              </a:rPr>
              <a:t>GitHub Actions 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5778C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78C"/>
                </a:solidFill>
                <a:latin typeface="Apto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457200"/>
            <a:ext cx="2377440" cy="2377440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29800" y="1097280"/>
            <a:ext cx="1005840" cy="1005840"/>
          </a:xfrm>
          <a:prstGeom prst="ellipse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0"/>
            <a:ext cx="1097280" cy="1097280"/>
          </a:xfrm>
          <a:prstGeom prst="ellipse">
            <a:avLst/>
          </a:prstGeom>
          <a:solidFill>
            <a:srgbClr val="172F4E"/>
          </a:solidFill>
          <a:ln>
            <a:solidFill>
              <a:srgbClr val="17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5486400"/>
            <a:ext cx="384048" cy="384048"/>
          </a:xfrm>
          <a:prstGeom prst="ellipse">
            <a:avLst/>
          </a:prstGeom>
          <a:solidFill>
            <a:srgbClr val="FFC35C"/>
          </a:solidFill>
          <a:ln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45720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BEAA"/>
                </a:solidFill>
                <a:latin typeface="Aptos"/>
              </a:rPr>
              <a:t>BODIMKARAYO.LK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13232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7498079" cy="4114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3E1EF"/>
                </a:solidFill>
                <a:latin typeface="Aptos"/>
              </a:rPr>
              <a:t>Smarter property search. Better roommate matches.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84448"/>
            <a:ext cx="1143000" cy="54864"/>
          </a:xfrm>
          <a:prstGeom prst="rect">
            <a:avLst/>
          </a:prstGeom>
          <a:solidFill>
            <a:srgbClr val="1FBEAA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096512"/>
            <a:ext cx="5303520" cy="5943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3E1EF"/>
                </a:solidFill>
                <a:latin typeface="Aptos"/>
              </a:rPr>
              <a:t>Department of Computer Engineering
Faculty of Engineering • University of Ruhuna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062472"/>
            <a:ext cx="484632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7C8DA"/>
                </a:solidFill>
                <a:latin typeface="Aptos"/>
              </a:rPr>
              <a:t>Bodimkarayo.lk  |  EC5406 Software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7C8DA"/>
                </a:solidFill>
                <a:latin typeface="Aptos"/>
              </a:rPr>
              <a:t>BODIMKARAYO.LK  •  EC5406 SOFTWARE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8DA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591</Words>
  <Application>Microsoft Macintosh PowerPoint</Application>
  <PresentationFormat>Widescreen</PresentationFormat>
  <Paragraphs>101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Bodimkarayo.lk – Smart Roommate &amp; Property Finder</dc:title>
  <dc:subject>EC5406 Software Project Presentation</dc:subject>
  <dc:creator>Department of Computer Engineering, University of Ruhuna</dc:creator>
  <cp:keywords>Bodimkarayo.lk, property finder, roommate finder, software project</cp:keywords>
  <dc:description>generated using python-pptx</dc:description>
  <cp:lastModifiedBy>k42859</cp:lastModifiedBy>
  <cp:revision>4</cp:revision>
  <dcterms:created xsi:type="dcterms:W3CDTF">2013-01-27T09:14:16Z</dcterms:created>
  <dcterms:modified xsi:type="dcterms:W3CDTF">2026-10-09T17:40:14Z</dcterms:modified>
  <cp:category/>
</cp:coreProperties>
</file>